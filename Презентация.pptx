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197DE-C967-4E35-AD37-829AC06AF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D9BB99-88D5-484B-9DCD-89BCA38D4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532EAD-DDC7-444E-95EA-A5F00EACE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A08481-44C7-4F79-BC1F-192EA643E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77817B-DDEB-4C0C-A6C2-407C4DA5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7342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2C985-2108-4345-AA8D-A0506FE0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CF1C0-4B27-4EC5-A0F2-CEA5F1D55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E8E45C-5E49-4064-AD73-AD865FC5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0688A-3EAA-4A8E-8D2C-CFA3FB19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5B5ED5-D1A0-4796-B7ED-2086223B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5949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12C5A-BF94-417B-B02F-E49371CC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D63ABC-36F1-4742-89FE-A61E861BC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2AFAC5-C1DA-4A95-98FD-4F772AEE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5F41BE-33CF-4649-B50D-9BE0B02F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14E20D-89BE-4B62-B000-0085454A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9123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21BFF1-971B-45EE-A054-4BF92346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F57F60-2AC0-4A56-9B20-96D0BAB2A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F38E9B-67AC-4063-ACFC-E8CE873CC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01D647-DF4F-44EA-AA0A-1CFFEEF0E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BFC87-8420-4DF5-9E25-0FAFFBC6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3469CC-12A0-4FAC-938F-8A47C8FB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14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77669-0BC9-4BD3-8777-D9C89254D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9557ED-7046-484D-B724-65AD0EFC5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BDEB93-1807-46DE-8398-400533885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B25AAD-D833-4A26-AA48-DE484F861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194EB33-BBF6-40DF-B0A8-BA1475967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BC35F3-1FAA-4A00-9F69-E5D97AA4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4483AD1-6984-4C2B-8939-8023FDC9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945D68-CE52-4F2A-A653-76B98443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8584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D431D-2319-4C31-8DE3-67F89562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D1B9379-687F-4A6D-A535-C2030CA44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43D105-C3D2-4FE4-8D54-4F172D8E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18B40F-6235-41EC-B21F-CA582102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38766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D5C6EE-DEE5-4F02-9CB5-324EC0130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01D5A8-54FF-4AB1-B2C4-9445D4141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FAE608-EAC2-429D-943E-90A399C1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79500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985FC-CFD7-42E1-8060-88976FA5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9473B-1D05-4719-A2AA-462A10979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E869FB-4724-43D8-8BE9-FAA06CCE1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42BDF7-31D3-4551-A1A4-3E3BD3B9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5F3E41-FE21-4730-B25D-452C5100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DE1E78-7AD7-451B-8C38-018890FA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3666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D70B4-29EE-4F7E-9AE8-F8CCFB75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5C8F36D-ACF0-424A-A9FE-2CD23645A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E5B34F-C50E-4CF7-94B2-86C8650CA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349B04-E08C-4B70-BBAA-CE6698D6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B3B65A-465E-4130-9BB9-920341EE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4CB7C3-EE6B-473E-9FD5-5EA1C923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8171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9B5B1-FFC3-416E-9A4F-FE6D2798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7AB94C-A120-422C-ABF1-E159C7EDA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61B8DF-233E-4795-96F8-B8178A6D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A42E80-59A1-44B9-A767-1F3C20C1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AD47EF-6348-4217-93D1-59DA3809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7863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785A91-1AD3-43B5-A398-6943A0219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04360-114D-4B51-A63B-1622B6EE2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3C8C5B-C6BB-4D11-A65E-9171EFCD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A9C6A-EAC3-4AE8-B8F2-CC022EC5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C7E6B0-5246-437E-A618-6DC34F76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06541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36A883-0EBF-4337-BF18-A486EFE5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D4DE07-04C5-4660-B83B-227C117F8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61C36-F741-42E3-A75D-00A09F4A3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54724-C07D-4D1E-AC79-DB81C521E982}" type="datetimeFigureOut">
              <a:rPr lang="ru-BY" smtClean="0"/>
              <a:t>11.05.2026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1D4947-5C01-4B37-B522-AA3FD507E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2D3110-319F-4BD2-8A6A-0976ACED6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52718-A759-4225-A430-6FB450D67AD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0817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46A58-3BAE-4915-A3D1-6A6AAAE86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582704"/>
            <a:ext cx="12191999" cy="1692592"/>
          </a:xfrm>
        </p:spPr>
        <p:txBody>
          <a:bodyPr>
            <a:noAutofit/>
          </a:bodyPr>
          <a:lstStyle/>
          <a:p>
            <a:r>
              <a:rPr lang="ru-RU" sz="40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Телематическая система мониторинга с поддержкой </a:t>
            </a:r>
            <a:r>
              <a:rPr lang="ru-RU" sz="400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нейросетевых</a:t>
            </a:r>
            <a:r>
              <a:rPr lang="ru-RU" sz="40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алгоритмов прогнозирования технического обслуживания</a:t>
            </a:r>
            <a:endParaRPr lang="ru-BY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67C34-9F8A-4D3A-9E41-64C3812FCEDE}"/>
              </a:ext>
            </a:extLst>
          </p:cNvPr>
          <p:cNvSpPr txBox="1"/>
          <p:nvPr/>
        </p:nvSpPr>
        <p:spPr>
          <a:xfrm>
            <a:off x="0" y="113556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Белорусский государственный университет информатики и радиоэлектроники</a:t>
            </a:r>
            <a:endParaRPr lang="ru-BY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00CE0-437E-46FA-B2AB-14F02D7BD1B5}"/>
              </a:ext>
            </a:extLst>
          </p:cNvPr>
          <p:cNvSpPr txBox="1"/>
          <p:nvPr/>
        </p:nvSpPr>
        <p:spPr>
          <a:xfrm>
            <a:off x="1201025" y="5322327"/>
            <a:ext cx="3790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Автор:</a:t>
            </a:r>
          </a:p>
          <a:p>
            <a:r>
              <a:rPr lang="ru-RU" sz="2000" dirty="0"/>
              <a:t>Шершнева Е.С.</a:t>
            </a:r>
            <a:endParaRPr lang="ru-BY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ED21D-32CD-40A5-94BA-307916146907}"/>
              </a:ext>
            </a:extLst>
          </p:cNvPr>
          <p:cNvSpPr txBox="1"/>
          <p:nvPr/>
        </p:nvSpPr>
        <p:spPr>
          <a:xfrm>
            <a:off x="7200550" y="5322327"/>
            <a:ext cx="3790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/>
              <a:t>Руководитель:</a:t>
            </a:r>
          </a:p>
          <a:p>
            <a:pPr algn="r"/>
            <a:r>
              <a:rPr lang="ru-RU" sz="2000" dirty="0"/>
              <a:t>Богдан Е.В.</a:t>
            </a:r>
            <a:endParaRPr lang="ru-BY" sz="2000" dirty="0"/>
          </a:p>
        </p:txBody>
      </p:sp>
    </p:spTree>
    <p:extLst>
      <p:ext uri="{BB962C8B-B14F-4D97-AF65-F5344CB8AC3E}">
        <p14:creationId xmlns:p14="http://schemas.microsoft.com/office/powerpoint/2010/main" val="3134123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1E022A-7FF7-4180-9BF7-718430DAFAAF}"/>
              </a:ext>
            </a:extLst>
          </p:cNvPr>
          <p:cNvSpPr txBox="1"/>
          <p:nvPr/>
        </p:nvSpPr>
        <p:spPr>
          <a:xfrm>
            <a:off x="687896" y="822121"/>
            <a:ext cx="8086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1 Цели и задачи</a:t>
            </a:r>
            <a:endParaRPr lang="ru-BY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7D7FC-F4E9-45C5-A827-5BC84687CD58}"/>
              </a:ext>
            </a:extLst>
          </p:cNvPr>
          <p:cNvSpPr txBox="1"/>
          <p:nvPr/>
        </p:nvSpPr>
        <p:spPr>
          <a:xfrm>
            <a:off x="687896" y="2028616"/>
            <a:ext cx="108162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Цели: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разработка телематической системы мониторинга;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интеллектуальная диагностика узлов ТС на основе данных CAN-шины;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прогнозирование технического обслуживания с помощью нейросетей;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создание единой цифровой среды для диспетчерских и инженерных служб.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C557A-B51A-41B9-8897-E948116BFD49}"/>
              </a:ext>
            </a:extLst>
          </p:cNvPr>
          <p:cNvSpPr txBox="1"/>
          <p:nvPr/>
        </p:nvSpPr>
        <p:spPr>
          <a:xfrm>
            <a:off x="687896" y="4096887"/>
            <a:ext cx="10816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анализ существующих стандартов передачи данных в автомобильной электронике</a:t>
            </a:r>
            <a:r>
              <a:rPr kumimoji="0" lang="ru-BY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kumimoji="0" lang="ru-RU" altLang="ru-BY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проектирование отказоустойчивой </a:t>
            </a:r>
            <a:r>
              <a:rPr kumimoji="0" lang="ru-RU" altLang="ru-BY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микросервисной</a:t>
            </a:r>
            <a:r>
              <a:rPr kumimoji="0" lang="ru-RU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архитектуры;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BY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разработка и обучение нейронной сети LSTM для </a:t>
            </a:r>
            <a:r>
              <a:rPr kumimoji="0" lang="ru-RU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обнаружения</a:t>
            </a:r>
            <a:r>
              <a:rPr kumimoji="0" lang="ru-BY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аномалий;</a:t>
            </a:r>
            <a:endParaRPr kumimoji="0" lang="ru-RU" altLang="ru-BY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BY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реализация веб-интерфейса для визуализации телеметрии и предиктивных инцидентов</a:t>
            </a:r>
            <a:r>
              <a:rPr kumimoji="0" lang="ru-RU" altLang="ru-BY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3548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C755C0-A1B7-4C93-ACAE-08FC98DDCF03}"/>
              </a:ext>
            </a:extLst>
          </p:cNvPr>
          <p:cNvSpPr txBox="1"/>
          <p:nvPr/>
        </p:nvSpPr>
        <p:spPr>
          <a:xfrm>
            <a:off x="687896" y="822121"/>
            <a:ext cx="8086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2 Используемые технологии</a:t>
            </a:r>
            <a:endParaRPr lang="ru-BY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1415DD-DE8C-4F0A-AC2A-B9F2125D5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42" y="1752515"/>
            <a:ext cx="1875578" cy="1831395"/>
          </a:xfrm>
          <a:prstGeom prst="rect">
            <a:avLst/>
          </a:prstGeom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0414B2F3-635B-4637-97CA-BC01745FA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374" y="1752514"/>
            <a:ext cx="1831395" cy="183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Приложение MQTT">
            <a:extLst>
              <a:ext uri="{FF2B5EF4-FFF2-40B4-BE49-F238E27FC236}">
                <a16:creationId xmlns:a16="http://schemas.microsoft.com/office/drawing/2014/main" id="{99C535F3-5761-4689-B709-E55B02B9B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753" y="1752514"/>
            <a:ext cx="2137476" cy="183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F74C1E-6213-40D5-AC18-BA7DDCBCE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213" y="1752516"/>
            <a:ext cx="4201542" cy="1669642"/>
          </a:xfrm>
          <a:prstGeom prst="rect">
            <a:avLst/>
          </a:prstGeom>
        </p:spPr>
      </p:pic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A05AF752-FF33-4137-B9B9-F74269F92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42" y="4204484"/>
            <a:ext cx="4760082" cy="183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abbitMQ decoderen: communicatie in gedistribueerde systemen verbeteren met Message Brokers">
            <a:extLst>
              <a:ext uri="{FF2B5EF4-FFF2-40B4-BE49-F238E27FC236}">
                <a16:creationId xmlns:a16="http://schemas.microsoft.com/office/drawing/2014/main" id="{E65C1046-B8AB-45FF-BE44-0F9FA10BC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803" y="4206634"/>
            <a:ext cx="3484277" cy="182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FF0063-5CE6-441A-A3D4-DF436B0F5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559" y="4204982"/>
            <a:ext cx="2441196" cy="183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6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EE644F-FD5D-4650-8EA5-B5BA95F08166}"/>
              </a:ext>
            </a:extLst>
          </p:cNvPr>
          <p:cNvSpPr txBox="1"/>
          <p:nvPr/>
        </p:nvSpPr>
        <p:spPr>
          <a:xfrm>
            <a:off x="687896" y="822121"/>
            <a:ext cx="8086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3 Архитектура модели нейросети</a:t>
            </a:r>
            <a:endParaRPr lang="ru-BY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928C1-0E46-4BBE-BB99-E838C0DA2AD7}"/>
              </a:ext>
            </a:extLst>
          </p:cNvPr>
          <p:cNvSpPr txBox="1"/>
          <p:nvPr/>
        </p:nvSpPr>
        <p:spPr>
          <a:xfrm>
            <a:off x="866163" y="1697787"/>
            <a:ext cx="42112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b="1" i="0" dirty="0" err="1">
                <a:effectLst/>
                <a:latin typeface="Arial" panose="020B0604020202020204" pitchFamily="34" charset="0"/>
              </a:rPr>
              <a:t>Stacked</a:t>
            </a:r>
            <a:r>
              <a:rPr lang="ru-RU" sz="2000" b="1" i="0" dirty="0">
                <a:effectLst/>
                <a:latin typeface="Arial" panose="020B0604020202020204" pitchFamily="34" charset="0"/>
              </a:rPr>
              <a:t> LSTM </a:t>
            </a:r>
            <a:r>
              <a:rPr lang="ru-RU" sz="2000" b="1" i="0" dirty="0" err="1">
                <a:effectLst/>
                <a:latin typeface="Arial" panose="020B0604020202020204" pitchFamily="34" charset="0"/>
              </a:rPr>
              <a:t>Autoencoder</a:t>
            </a:r>
            <a:endParaRPr lang="ru-RU" sz="20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ru-RU" sz="2000" b="0" i="0" dirty="0">
                <a:effectLst/>
                <a:latin typeface="Arial" panose="020B0604020202020204" pitchFamily="34" charset="0"/>
              </a:rPr>
              <a:t>глубокое извлечение иерархических признаков;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C8CA2-795D-4ECE-823E-58BDEF6E6BAA}"/>
              </a:ext>
            </a:extLst>
          </p:cNvPr>
          <p:cNvSpPr txBox="1"/>
          <p:nvPr/>
        </p:nvSpPr>
        <p:spPr>
          <a:xfrm>
            <a:off x="855677" y="4929664"/>
            <a:ext cx="8907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b="1" i="0" dirty="0">
                <a:effectLst/>
                <a:latin typeface="Arial" panose="020B0604020202020204" pitchFamily="34" charset="0"/>
              </a:rPr>
              <a:t>Механизм внимания</a:t>
            </a:r>
          </a:p>
          <a:p>
            <a:r>
              <a:rPr lang="ru-RU" sz="2000" b="0" i="0" dirty="0">
                <a:effectLst/>
                <a:latin typeface="Arial" panose="020B0604020202020204" pitchFamily="34" charset="0"/>
              </a:rPr>
              <a:t>сохранение контекста временных шагов и весовая фокусировка;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B8EC0-5D02-494D-9E98-A2483A2AC81B}"/>
              </a:ext>
            </a:extLst>
          </p:cNvPr>
          <p:cNvSpPr txBox="1"/>
          <p:nvPr/>
        </p:nvSpPr>
        <p:spPr>
          <a:xfrm>
            <a:off x="876645" y="2980264"/>
            <a:ext cx="8886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b="1" i="0" dirty="0">
                <a:effectLst/>
                <a:latin typeface="Arial" panose="020B0604020202020204" pitchFamily="34" charset="0"/>
              </a:rPr>
              <a:t>Сжатие (</a:t>
            </a:r>
            <a:r>
              <a:rPr lang="ru-RU" sz="2000" b="1" i="0" dirty="0" err="1">
                <a:effectLst/>
                <a:latin typeface="Arial" panose="020B0604020202020204" pitchFamily="34" charset="0"/>
              </a:rPr>
              <a:t>Encoder</a:t>
            </a:r>
            <a:r>
              <a:rPr lang="ru-RU" sz="2000" b="1" i="0" dirty="0">
                <a:effectLst/>
                <a:latin typeface="Arial" panose="020B0604020202020204" pitchFamily="34" charset="0"/>
              </a:rPr>
              <a:t>)</a:t>
            </a:r>
          </a:p>
          <a:p>
            <a:pPr algn="l"/>
            <a:r>
              <a:rPr lang="ru-RU" sz="2000" i="0" dirty="0">
                <a:effectLst/>
                <a:latin typeface="Arial" panose="020B0604020202020204" pitchFamily="34" charset="0"/>
              </a:rPr>
              <a:t>отображение 20 шагов телеметрии в вектор размерностью 64;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3C3E5-7659-4075-B958-086870987657}"/>
              </a:ext>
            </a:extLst>
          </p:cNvPr>
          <p:cNvSpPr txBox="1"/>
          <p:nvPr/>
        </p:nvSpPr>
        <p:spPr>
          <a:xfrm>
            <a:off x="866162" y="3954964"/>
            <a:ext cx="8907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b="1" i="0" dirty="0">
                <a:effectLst/>
                <a:latin typeface="Arial" panose="020B0604020202020204" pitchFamily="34" charset="0"/>
              </a:rPr>
              <a:t>Восстановление (</a:t>
            </a:r>
            <a:r>
              <a:rPr lang="ru-RU" sz="2000" b="1" i="0" dirty="0" err="1">
                <a:effectLst/>
                <a:latin typeface="Arial" panose="020B0604020202020204" pitchFamily="34" charset="0"/>
              </a:rPr>
              <a:t>Decoder</a:t>
            </a:r>
            <a:r>
              <a:rPr lang="ru-RU" sz="2000" b="1" i="0" dirty="0">
                <a:effectLst/>
                <a:latin typeface="Arial" panose="020B0604020202020204" pitchFamily="34" charset="0"/>
              </a:rPr>
              <a:t>)</a:t>
            </a:r>
          </a:p>
          <a:p>
            <a:pPr algn="l"/>
            <a:r>
              <a:rPr lang="ru-RU" sz="2000" i="0" dirty="0">
                <a:effectLst/>
                <a:latin typeface="Arial" panose="020B0604020202020204" pitchFamily="34" charset="0"/>
              </a:rPr>
              <a:t>реконструкция сигнала с использованием механизма внимания;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EF80C26-A534-4E32-9281-B6AABBA14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56" y="1531213"/>
            <a:ext cx="5805881" cy="468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3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E3E07B-018F-4CC7-860D-CF09447C8A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99" t="11228" r="9543" b="7766"/>
          <a:stretch/>
        </p:blipFill>
        <p:spPr>
          <a:xfrm>
            <a:off x="687896" y="1752217"/>
            <a:ext cx="6333689" cy="40862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BACACA-FBD0-4FAC-A026-94369DA46181}"/>
              </a:ext>
            </a:extLst>
          </p:cNvPr>
          <p:cNvSpPr txBox="1"/>
          <p:nvPr/>
        </p:nvSpPr>
        <p:spPr>
          <a:xfrm>
            <a:off x="687896" y="822121"/>
            <a:ext cx="8086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4 Обучение модели</a:t>
            </a:r>
            <a:endParaRPr lang="ru-BY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45073-ED80-4870-84DD-610306A21448}"/>
              </a:ext>
            </a:extLst>
          </p:cNvPr>
          <p:cNvSpPr txBox="1"/>
          <p:nvPr/>
        </p:nvSpPr>
        <p:spPr>
          <a:xfrm>
            <a:off x="7326387" y="1394685"/>
            <a:ext cx="41777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BY" sz="1800" b="1" i="0" u="none" strike="noStrike" dirty="0">
                <a:effectLst/>
                <a:latin typeface="VKSansDisplay"/>
              </a:rPr>
              <a:t>–</a:t>
            </a:r>
            <a:r>
              <a:rPr lang="ru-BY" sz="18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18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dirty="0"/>
              <a:t>Метод обучения </a:t>
            </a:r>
            <a:r>
              <a:rPr lang="ru-RU" dirty="0" err="1"/>
              <a:t>Self-supervised</a:t>
            </a:r>
            <a:r>
              <a:rPr lang="ru-RU" dirty="0"/>
              <a:t> </a:t>
            </a:r>
          </a:p>
          <a:p>
            <a:r>
              <a:rPr lang="ru-RU" dirty="0"/>
              <a:t>на неразмеченном наборе данных</a:t>
            </a:r>
          </a:p>
          <a:p>
            <a:endParaRPr lang="ru-RU" dirty="0"/>
          </a:p>
          <a:p>
            <a:r>
              <a:rPr lang="ru-BY" sz="1800" b="1" i="0" u="none" strike="noStrike" dirty="0">
                <a:effectLst/>
                <a:latin typeface="VKSansDisplay"/>
              </a:rPr>
              <a:t>–</a:t>
            </a:r>
            <a:r>
              <a:rPr lang="ru-BY" sz="18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18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dirty="0"/>
              <a:t>Функция потерь </a:t>
            </a:r>
            <a:r>
              <a:rPr lang="ru-RU" dirty="0" err="1"/>
              <a:t>Mean</a:t>
            </a:r>
            <a:r>
              <a:rPr lang="ru-RU" dirty="0"/>
              <a:t> </a:t>
            </a:r>
            <a:r>
              <a:rPr lang="ru-RU" dirty="0" err="1"/>
              <a:t>Absolute</a:t>
            </a:r>
            <a:r>
              <a:rPr lang="ru-RU" dirty="0"/>
              <a:t> </a:t>
            </a:r>
            <a:r>
              <a:rPr lang="ru-RU" dirty="0" err="1"/>
              <a:t>Error</a:t>
            </a:r>
            <a:r>
              <a:rPr lang="ru-RU" dirty="0"/>
              <a:t> </a:t>
            </a:r>
          </a:p>
          <a:p>
            <a:r>
              <a:rPr lang="ru-RU" dirty="0"/>
              <a:t>среднее отклонение восстановленного сигнала от оригинала.</a:t>
            </a:r>
          </a:p>
          <a:p>
            <a:endParaRPr lang="ru-RU" dirty="0"/>
          </a:p>
          <a:p>
            <a:r>
              <a:rPr lang="ru-BY" sz="1800" b="1" i="0" u="none" strike="noStrike" dirty="0">
                <a:effectLst/>
                <a:latin typeface="VKSansDisplay"/>
              </a:rPr>
              <a:t>–</a:t>
            </a:r>
            <a:r>
              <a:rPr lang="ru-BY" sz="18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18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dirty="0"/>
              <a:t>Достижение стабильного плато на 130-й эпохе обучения без признаков переобучения.</a:t>
            </a:r>
          </a:p>
          <a:p>
            <a:endParaRPr lang="ru-RU" dirty="0"/>
          </a:p>
          <a:p>
            <a:r>
              <a:rPr lang="ru-BY" sz="1800" b="1" i="0" u="none" strike="noStrike" dirty="0">
                <a:effectLst/>
                <a:latin typeface="VKSansDisplay"/>
              </a:rPr>
              <a:t>–</a:t>
            </a:r>
            <a:r>
              <a:rPr lang="ru-BY" sz="18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18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dirty="0"/>
              <a:t>Использование 15% контрольной выборки для подтверждения обобщающей способности модели на новых данных телеметрии.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97193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9EFEBD-DB0B-46A3-B4C5-6C965CD476E0}"/>
              </a:ext>
            </a:extLst>
          </p:cNvPr>
          <p:cNvSpPr txBox="1"/>
          <p:nvPr/>
        </p:nvSpPr>
        <p:spPr>
          <a:xfrm>
            <a:off x="687896" y="822121"/>
            <a:ext cx="8086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5 Демонстрация работы</a:t>
            </a:r>
            <a:endParaRPr lang="ru-BY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493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B645A9-F3CC-47E1-B8E2-910CA404B71A}"/>
              </a:ext>
            </a:extLst>
          </p:cNvPr>
          <p:cNvSpPr txBox="1"/>
          <p:nvPr/>
        </p:nvSpPr>
        <p:spPr>
          <a:xfrm>
            <a:off x="687896" y="1843950"/>
            <a:ext cx="108162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Реализовано: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масштабируемая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микросервисная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архитектура;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интеллектуальный модуль обнаружения аномалий;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единый веб-интерфейс мониторинга для обновления параметров в реальном времени,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   визуализацией маршрутов и журналом предиктивных инцидентов;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система управления конфигурациями параметров SPN/PGN;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хранилища данных: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PostgreSQL, Redis.</a:t>
            </a:r>
            <a:endParaRPr lang="ru-B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79C24-A09D-4060-A7CE-7EF56286115F}"/>
              </a:ext>
            </a:extLst>
          </p:cNvPr>
          <p:cNvSpPr txBox="1"/>
          <p:nvPr/>
        </p:nvSpPr>
        <p:spPr>
          <a:xfrm>
            <a:off x="687896" y="4404663"/>
            <a:ext cx="108162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Направления дальнейшего развития: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оптимизация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нейросетевой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модели;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автоматическая адаптация порогов модели под конкретный экземпляр ТС;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внедрение модели нейросети непосредственно на борт автомобиля;</a:t>
            </a:r>
          </a:p>
          <a:p>
            <a:r>
              <a:rPr lang="ru-BY" sz="2000" b="1" i="0" u="none" strike="noStrike" dirty="0">
                <a:effectLst/>
                <a:latin typeface="VKSansDisplay"/>
              </a:rPr>
              <a:t>–</a:t>
            </a:r>
            <a:r>
              <a:rPr lang="ru-BY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 </a:t>
            </a:r>
            <a:r>
              <a:rPr lang="ru-RU" sz="2000" b="1" i="0" u="none" strike="noStrike" dirty="0">
                <a:solidFill>
                  <a:srgbClr val="E7E8EA"/>
                </a:solidFill>
                <a:effectLst/>
                <a:latin typeface="VKSansDisplay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добавление поддержки стандартов J1708 и OBD-II.</a:t>
            </a:r>
            <a:endParaRPr lang="ru-B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A5268-AD28-4A1A-A00A-DD153EBD78C0}"/>
              </a:ext>
            </a:extLst>
          </p:cNvPr>
          <p:cNvSpPr txBox="1"/>
          <p:nvPr/>
        </p:nvSpPr>
        <p:spPr>
          <a:xfrm>
            <a:off x="687896" y="822121"/>
            <a:ext cx="8086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7 Результаты</a:t>
            </a:r>
            <a:endParaRPr lang="ru-BY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4259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297</Words>
  <Application>Microsoft Office PowerPoint</Application>
  <PresentationFormat>Широкоэкранный</PresentationFormat>
  <Paragraphs>51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VKSansDisplay</vt:lpstr>
      <vt:lpstr>Тема Office</vt:lpstr>
      <vt:lpstr>Телематическая система мониторинга с поддержкой нейросетевых алгоритмов прогнозирования технического обслуживания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Alena</dc:creator>
  <cp:lastModifiedBy>Alena</cp:lastModifiedBy>
  <cp:revision>34</cp:revision>
  <dcterms:created xsi:type="dcterms:W3CDTF">2026-05-07T11:09:28Z</dcterms:created>
  <dcterms:modified xsi:type="dcterms:W3CDTF">2026-05-11T08:54:23Z</dcterms:modified>
</cp:coreProperties>
</file>